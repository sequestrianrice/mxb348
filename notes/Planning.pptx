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2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92" y="4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EF972-39EC-92B3-D2D9-9DEBB55707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9A1275-5C66-0B96-4319-4677CA665A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5BDCC0-1571-3113-ED80-1B1B4712B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4B608-9495-43C1-8AB2-7DAB5DEF1F9B}" type="datetimeFigureOut">
              <a:rPr lang="en-AU" smtClean="0"/>
              <a:t>4/08/2026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354F65-4B25-6307-B0D7-FFD808AD4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ED606C-68F4-41D2-003E-BF422503A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C463F-A870-4BBA-AF81-1AD26BBDC50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03489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710F3-0B3F-82C0-7F01-8A2E1E46F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856991-FF23-7E18-9D31-3AA6D35114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471887-7D47-E2BD-E6D8-67D07DD04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4B608-9495-43C1-8AB2-7DAB5DEF1F9B}" type="datetimeFigureOut">
              <a:rPr lang="en-AU" smtClean="0"/>
              <a:t>4/08/2026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725891-6C42-4EE0-CC24-556177344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8B05EF-0711-D5B8-ACEA-CC10EBE5D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C463F-A870-4BBA-AF81-1AD26BBDC50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86265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0E6DC-71BA-A3C3-7F6D-4FC5E468E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B80C81-AA23-A0DA-D28B-1EDC8EA286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65DEEF-8E65-7F24-CB01-1F7D6C777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4B608-9495-43C1-8AB2-7DAB5DEF1F9B}" type="datetimeFigureOut">
              <a:rPr lang="en-AU" smtClean="0"/>
              <a:t>4/08/2026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31B076-835C-DC83-7FD0-35F0D8144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7BEF66-EB2C-F88C-B89B-152E345DE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C463F-A870-4BBA-AF81-1AD26BBDC50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660318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1E206-F70D-1591-BBEA-E9D214E0A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2AD593-C855-63C9-AD0E-CA705981A4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063528-420F-3825-5A29-F75C6E52AE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AC4F50-2B15-7A76-07E5-C9F5A7F11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4B608-9495-43C1-8AB2-7DAB5DEF1F9B}" type="datetimeFigureOut">
              <a:rPr lang="en-AU" smtClean="0"/>
              <a:t>4/08/2026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009C1B-F6A0-3076-BA13-B28B38F64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6FEC65-BA93-9190-9D93-BF76FCACA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C463F-A870-4BBA-AF81-1AD26BBDC50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75674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D8194-6DDD-2584-8F83-5E656F55E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202DC9-D5E1-6D1D-9B3D-F330FADB01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EA85AB-2E97-B13E-6A17-7D1D844C0B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595CB7-9C92-7AF0-F242-9F0398A6D5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65628E-031C-82EE-D1E3-9D656BCCD1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FD8663-C0B1-8126-935E-DEDCBE53B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4B608-9495-43C1-8AB2-7DAB5DEF1F9B}" type="datetimeFigureOut">
              <a:rPr lang="en-AU" smtClean="0"/>
              <a:t>4/08/2026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6ED096-A4E4-AA99-E6D6-75255F1B1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697D30-DDEA-76BA-117D-E1F33D8FE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C463F-A870-4BBA-AF81-1AD26BBDC50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444919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A1AB3-E924-C3ED-AC66-4F29046A7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3B8C12-AB86-3625-7E25-EC626A108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4B608-9495-43C1-8AB2-7DAB5DEF1F9B}" type="datetimeFigureOut">
              <a:rPr lang="en-AU" smtClean="0"/>
              <a:t>4/08/2026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AEEAC5-D16B-B31F-F1E4-6D057F78E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F194FE-84BA-6346-AD6E-18932D45D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C463F-A870-4BBA-AF81-1AD26BBDC50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580676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494595-D40E-B34D-4F32-837F3DF0B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4B608-9495-43C1-8AB2-7DAB5DEF1F9B}" type="datetimeFigureOut">
              <a:rPr lang="en-AU" smtClean="0"/>
              <a:t>4/08/2026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0B39BA-004F-1382-B4CA-6BABA33A8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A63407-1085-84AE-62DF-D348E93E0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C463F-A870-4BBA-AF81-1AD26BBDC50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628171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2F9B4-D81C-F04A-F632-AAB08AB3C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093953-F79F-6935-7FA8-1DA67B1CAE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E8A371-8334-6054-A56A-573A2D499D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2B2B7F-8A4D-E196-2B0B-F28BBCC4C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4B608-9495-43C1-8AB2-7DAB5DEF1F9B}" type="datetimeFigureOut">
              <a:rPr lang="en-AU" smtClean="0"/>
              <a:t>4/08/2026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B80B75-3A0A-51E3-FA3A-0C6833537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F663D1-D61D-5F5D-DAED-8E93AC39F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C463F-A870-4BBA-AF81-1AD26BBDC50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361528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04CA3-0E23-770D-E5AB-82F4A5C2A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E09D71-02E6-A4CA-C473-5DBEC9B284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E8FE6B-8FB5-9521-8DAB-EB703E3BA6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0B04D4-E3F2-C7E7-460A-D76828AC4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4B608-9495-43C1-8AB2-7DAB5DEF1F9B}" type="datetimeFigureOut">
              <a:rPr lang="en-AU" smtClean="0"/>
              <a:t>4/08/2026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FFD671-392D-4E17-FC86-F708DAD69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9E80D9-2622-A723-9171-7D927D537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C463F-A870-4BBA-AF81-1AD26BBDC50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138494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B9DC7-8219-BAE2-60E7-4C6E7954C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6A2C96-8394-CB44-76A8-BF19A6BBED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89C77D-8A1E-E010-B78C-80757B2BF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4B608-9495-43C1-8AB2-7DAB5DEF1F9B}" type="datetimeFigureOut">
              <a:rPr lang="en-AU" smtClean="0"/>
              <a:t>4/08/2026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E985C-DCB4-AE50-0A60-1331AE22D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ADA02F-E23C-6C98-5400-E51644506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C463F-A870-4BBA-AF81-1AD26BBDC50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947175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E47650-4E99-4DDD-CAE1-84465787B6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E64A2A-250F-09F1-5E11-43F6804B6D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14D5A7-88F8-1146-3918-6626A0694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4B608-9495-43C1-8AB2-7DAB5DEF1F9B}" type="datetimeFigureOut">
              <a:rPr lang="en-AU" smtClean="0"/>
              <a:t>4/08/2026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67FAD0-9E73-E22F-AA38-5B7EB2D6B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6CD6A7-994A-CCFD-1AAE-A9FB726AE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C463F-A870-4BBA-AF81-1AD26BBDC50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426696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5D2E74-8FF2-8837-1D8D-E0A4020B0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85FA97-E819-DCB5-657C-E7D592F0ED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F6E0F2-57C5-9157-097B-0C7F1C61D0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04B608-9495-43C1-8AB2-7DAB5DEF1F9B}" type="datetimeFigureOut">
              <a:rPr lang="en-AU" smtClean="0"/>
              <a:t>4/08/2026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4E24E0-3D31-DE23-F837-5DBD551D7C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EEDF7-65E9-EB67-38FD-0169482882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EC463F-A870-4BBA-AF81-1AD26BBDC50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56694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6BDA7-709C-9B90-6E9C-273FCB6F7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5D45FB-56AA-2378-8E0B-42676A84CF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18261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EE4C9B1-368B-D90C-005D-AC91824031CF}"/>
              </a:ext>
            </a:extLst>
          </p:cNvPr>
          <p:cNvSpPr txBox="1"/>
          <p:nvPr/>
        </p:nvSpPr>
        <p:spPr>
          <a:xfrm>
            <a:off x="0" y="0"/>
            <a:ext cx="60167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/>
              <a:t>Project Background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DB647E-D672-A41B-BE0D-9435E5751C23}"/>
              </a:ext>
            </a:extLst>
          </p:cNvPr>
          <p:cNvSpPr txBox="1"/>
          <p:nvPr/>
        </p:nvSpPr>
        <p:spPr>
          <a:xfrm>
            <a:off x="2276856" y="1627632"/>
            <a:ext cx="588873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Context</a:t>
            </a:r>
            <a:r>
              <a:rPr lang="en-AU" dirty="0"/>
              <a:t> – </a:t>
            </a:r>
            <a:r>
              <a:rPr lang="en-AU" dirty="0" err="1"/>
              <a:t>Logickube</a:t>
            </a:r>
            <a:r>
              <a:rPr lang="en-AU" dirty="0"/>
              <a:t> provided us with customer journey data from advertisement touch-points (channels) to conversion success/failure.</a:t>
            </a:r>
          </a:p>
          <a:p>
            <a:endParaRPr lang="en-AU" b="1" dirty="0"/>
          </a:p>
          <a:p>
            <a:r>
              <a:rPr lang="en-AU" b="1" dirty="0"/>
              <a:t>Problem </a:t>
            </a:r>
            <a:r>
              <a:rPr lang="en-AU" dirty="0"/>
              <a:t>– </a:t>
            </a:r>
            <a:r>
              <a:rPr lang="en-AU" dirty="0" err="1"/>
              <a:t>Logickube</a:t>
            </a:r>
            <a:r>
              <a:rPr lang="en-AU" dirty="0"/>
              <a:t> is interested in maximising profits through efficient budget allocation on advertisement channel distribution.</a:t>
            </a:r>
          </a:p>
          <a:p>
            <a:endParaRPr lang="en-AU" b="1" dirty="0"/>
          </a:p>
          <a:p>
            <a:r>
              <a:rPr lang="en-AU" b="1" dirty="0"/>
              <a:t>Opportunity </a:t>
            </a:r>
            <a:r>
              <a:rPr lang="en-AU" dirty="0"/>
              <a:t>– QUT Statistics WIL unit provides potential free labour for the company.</a:t>
            </a:r>
          </a:p>
        </p:txBody>
      </p:sp>
    </p:spTree>
    <p:extLst>
      <p:ext uri="{BB962C8B-B14F-4D97-AF65-F5344CB8AC3E}">
        <p14:creationId xmlns:p14="http://schemas.microsoft.com/office/powerpoint/2010/main" val="29106420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215E1E-1AFA-3A8B-1FB7-4EBF6132D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A3A9390-A934-328F-4FD3-1EA52099E390}"/>
              </a:ext>
            </a:extLst>
          </p:cNvPr>
          <p:cNvSpPr txBox="1"/>
          <p:nvPr/>
        </p:nvSpPr>
        <p:spPr>
          <a:xfrm>
            <a:off x="0" y="0"/>
            <a:ext cx="74980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/>
              <a:t>Service Need / Strategic Need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C8A42A3-7B58-6A73-059A-BB7414D77A02}"/>
              </a:ext>
            </a:extLst>
          </p:cNvPr>
          <p:cNvSpPr txBox="1"/>
          <p:nvPr/>
        </p:nvSpPr>
        <p:spPr>
          <a:xfrm>
            <a:off x="2167128" y="1810512"/>
            <a:ext cx="713232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Needs/Benefits </a:t>
            </a:r>
            <a:r>
              <a:rPr lang="en-AU" dirty="0"/>
              <a:t>– efficient budget allocation, customer insight for company and partners, students (we) produce a model that is useful in multiple scenarios [long-term benefit]. We improve analytical skills on datasets that reflect real-world scenarios.</a:t>
            </a:r>
          </a:p>
          <a:p>
            <a:endParaRPr lang="en-AU" dirty="0"/>
          </a:p>
          <a:p>
            <a:r>
              <a:rPr lang="en-AU" b="1" dirty="0"/>
              <a:t>Stakeholder Benefits </a:t>
            </a:r>
            <a:r>
              <a:rPr lang="en-AU" dirty="0"/>
              <a:t>– </a:t>
            </a:r>
            <a:r>
              <a:rPr lang="en-AU" dirty="0" err="1"/>
              <a:t>Logickube</a:t>
            </a:r>
            <a:r>
              <a:rPr lang="en-AU" dirty="0"/>
              <a:t> is looking for innovative ways to forecast advertisement impact on customer conversion.</a:t>
            </a:r>
            <a:endParaRPr lang="en-AU" b="1" dirty="0"/>
          </a:p>
          <a:p>
            <a:endParaRPr lang="en-AU" b="1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00095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63E776-153C-7AEF-5FE2-A20863282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64674AA-4C14-560C-2741-F498F6D9939F}"/>
              </a:ext>
            </a:extLst>
          </p:cNvPr>
          <p:cNvSpPr txBox="1"/>
          <p:nvPr/>
        </p:nvSpPr>
        <p:spPr>
          <a:xfrm>
            <a:off x="0" y="0"/>
            <a:ext cx="60167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/>
              <a:t>Objectives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999359E-1B7D-1947-0A08-196B40A74593}"/>
              </a:ext>
            </a:extLst>
          </p:cNvPr>
          <p:cNvSpPr txBox="1"/>
          <p:nvPr/>
        </p:nvSpPr>
        <p:spPr>
          <a:xfrm>
            <a:off x="1417320" y="1344168"/>
            <a:ext cx="769924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Product </a:t>
            </a:r>
            <a:r>
              <a:rPr lang="en-AU" dirty="0"/>
              <a:t>– predictive models that may be beneficial to improved efficiency on advertisement management.</a:t>
            </a:r>
            <a:endParaRPr lang="en-AU" b="1" dirty="0"/>
          </a:p>
          <a:p>
            <a:r>
              <a:rPr lang="en-AU" b="1" dirty="0"/>
              <a:t>SMART</a:t>
            </a:r>
          </a:p>
          <a:p>
            <a:pPr marL="285750" indent="-285750">
              <a:buFontTx/>
              <a:buChar char="-"/>
            </a:pPr>
            <a:r>
              <a:rPr lang="en-AU" dirty="0"/>
              <a:t>Specific: A model that forecasts probability for customer conversion depending on attribution pathways via channel touch-points.</a:t>
            </a:r>
          </a:p>
          <a:p>
            <a:pPr marL="285750" indent="-285750">
              <a:buFontTx/>
              <a:buChar char="-"/>
            </a:pPr>
            <a:r>
              <a:rPr lang="en-AU" dirty="0"/>
              <a:t>Measurable: Quantitatively conveys information relative to the goals.</a:t>
            </a:r>
          </a:p>
          <a:p>
            <a:pPr marL="285750" indent="-285750">
              <a:buFontTx/>
              <a:buChar char="-"/>
            </a:pPr>
            <a:r>
              <a:rPr lang="en-AU" dirty="0"/>
              <a:t>Achievable: Yes.</a:t>
            </a:r>
          </a:p>
          <a:p>
            <a:pPr marL="285750" indent="-285750">
              <a:buFontTx/>
              <a:buChar char="-"/>
            </a:pPr>
            <a:r>
              <a:rPr lang="en-AU" dirty="0"/>
              <a:t>Relevant: Predictive model and methods should be applicable and easily extendable to similar datasets about customer conversion advertisement pathways.</a:t>
            </a:r>
          </a:p>
          <a:p>
            <a:pPr marL="285750" indent="-285750">
              <a:buFontTx/>
              <a:buChar char="-"/>
            </a:pPr>
            <a:r>
              <a:rPr lang="en-AU" dirty="0"/>
              <a:t>Time-bound: Requires completion within 3-month period.</a:t>
            </a:r>
          </a:p>
        </p:txBody>
      </p:sp>
    </p:spTree>
    <p:extLst>
      <p:ext uri="{BB962C8B-B14F-4D97-AF65-F5344CB8AC3E}">
        <p14:creationId xmlns:p14="http://schemas.microsoft.com/office/powerpoint/2010/main" val="5891413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0DA1A-E60E-36A1-CDA5-61CCFEFBE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3E4D8B3-5766-7664-EDA7-1782FF82F123}"/>
              </a:ext>
            </a:extLst>
          </p:cNvPr>
          <p:cNvSpPr txBox="1"/>
          <p:nvPr/>
        </p:nvSpPr>
        <p:spPr>
          <a:xfrm>
            <a:off x="0" y="0"/>
            <a:ext cx="93177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/>
              <a:t>Assumptions, Exclusions &amp; Constraints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5DB5BB-495A-9816-C93D-45FD81EFFCB3}"/>
              </a:ext>
            </a:extLst>
          </p:cNvPr>
          <p:cNvSpPr txBox="1"/>
          <p:nvPr/>
        </p:nvSpPr>
        <p:spPr>
          <a:xfrm>
            <a:off x="647700" y="1028700"/>
            <a:ext cx="75057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Assumptions </a:t>
            </a:r>
            <a:r>
              <a:rPr lang="en-AU" dirty="0"/>
              <a:t>– the channels provided are the only channels that a customer can interact with. Definition of conversion is consistent for all customers. Each conversion has equal weight.</a:t>
            </a:r>
          </a:p>
          <a:p>
            <a:endParaRPr lang="en-AU" b="1" dirty="0"/>
          </a:p>
          <a:p>
            <a:r>
              <a:rPr lang="en-AU" b="1" dirty="0"/>
              <a:t>Exclusions</a:t>
            </a:r>
            <a:r>
              <a:rPr lang="en-AU" dirty="0"/>
              <a:t> – long-term outcomes will be unknown, so there won’t be any knowledge on if product is a success.</a:t>
            </a:r>
            <a:endParaRPr lang="en-AU" b="1" dirty="0"/>
          </a:p>
          <a:p>
            <a:endParaRPr lang="en-AU" b="1" dirty="0"/>
          </a:p>
          <a:p>
            <a:r>
              <a:rPr lang="en-AU" b="1" dirty="0"/>
              <a:t>Constraints</a:t>
            </a:r>
            <a:r>
              <a:rPr lang="en-AU" dirty="0"/>
              <a:t> - only 3 people in group who cannot work full-time on it, and project requires to be completed within 10 week period.</a:t>
            </a:r>
            <a:endParaRPr lang="en-AU" b="1" dirty="0"/>
          </a:p>
        </p:txBody>
      </p:sp>
    </p:spTree>
    <p:extLst>
      <p:ext uri="{BB962C8B-B14F-4D97-AF65-F5344CB8AC3E}">
        <p14:creationId xmlns:p14="http://schemas.microsoft.com/office/powerpoint/2010/main" val="1019795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B2E2BA-1CA4-B5B9-C563-4DF721573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3A61C86-0FD2-745C-E8BB-D000A6EC8FBB}"/>
              </a:ext>
            </a:extLst>
          </p:cNvPr>
          <p:cNvSpPr txBox="1"/>
          <p:nvPr/>
        </p:nvSpPr>
        <p:spPr>
          <a:xfrm>
            <a:off x="0" y="0"/>
            <a:ext cx="60167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/>
              <a:t>Approach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571CF27-C5D7-22C5-21C0-5C7CD465563D}"/>
              </a:ext>
            </a:extLst>
          </p:cNvPr>
          <p:cNvSpPr txBox="1"/>
          <p:nvPr/>
        </p:nvSpPr>
        <p:spPr>
          <a:xfrm>
            <a:off x="1803400" y="1282700"/>
            <a:ext cx="64897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Linear at some points, iterative at others. There will be certain tasks that require priority to continue, i.e. initial predictive model, assessment submission deadlines.</a:t>
            </a:r>
          </a:p>
          <a:p>
            <a:endParaRPr lang="en-AU" dirty="0"/>
          </a:p>
          <a:p>
            <a:r>
              <a:rPr lang="en-AU" dirty="0"/>
              <a:t>Prototypes will be built and then improved upon until final model is satisfactory to us and the marking criteria.</a:t>
            </a:r>
          </a:p>
          <a:p>
            <a:endParaRPr lang="en-AU" dirty="0"/>
          </a:p>
          <a:p>
            <a:r>
              <a:rPr lang="en-AU" b="1" dirty="0"/>
              <a:t>High-level Project Lifecycle</a:t>
            </a:r>
            <a:r>
              <a:rPr lang="en-AU" dirty="0"/>
              <a:t> – consistent communication and contribution between all members, which include new ideas and perspectives. Proof-reading and model testing on each others prototypes to ensure reproducible models and methods.</a:t>
            </a:r>
            <a:endParaRPr lang="en-AU" b="1" dirty="0"/>
          </a:p>
        </p:txBody>
      </p:sp>
    </p:spTree>
    <p:extLst>
      <p:ext uri="{BB962C8B-B14F-4D97-AF65-F5344CB8AC3E}">
        <p14:creationId xmlns:p14="http://schemas.microsoft.com/office/powerpoint/2010/main" val="6651269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5899A-15DA-DA91-3F99-6E9EB4491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CA6CA99-55B7-2A65-0B85-69F757040B98}"/>
              </a:ext>
            </a:extLst>
          </p:cNvPr>
          <p:cNvSpPr txBox="1"/>
          <p:nvPr/>
        </p:nvSpPr>
        <p:spPr>
          <a:xfrm>
            <a:off x="0" y="0"/>
            <a:ext cx="10312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/>
              <a:t>Scope – Product Breakdown Structure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0208EBC-0EA1-D49F-7898-F3F35AEE24B0}"/>
                  </a:ext>
                </a:extLst>
              </p:cNvPr>
              <p:cNvSpPr txBox="1"/>
              <p:nvPr/>
            </p:nvSpPr>
            <p:spPr>
              <a:xfrm>
                <a:off x="244474" y="797510"/>
                <a:ext cx="7413625" cy="52629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>
                  <a:buNone/>
                </a:pPr>
                <a:r>
                  <a:rPr lang="en-AU" sz="1600" b="1" dirty="0">
                    <a:effectLst/>
                    <a:latin typeface="Calibri" panose="020F0502020204030204" pitchFamily="34" charset="0"/>
                  </a:rPr>
                  <a:t>1 -- Predictive Modelling</a:t>
                </a:r>
                <a:endParaRPr lang="en-AU" sz="1600" dirty="0">
                  <a:effectLst/>
                  <a:latin typeface="Calibri" panose="020F0502020204030204" pitchFamily="34" charset="0"/>
                </a:endParaRPr>
              </a:p>
              <a:p>
                <a:pPr marL="342900" marR="0">
                  <a:buNone/>
                </a:pPr>
                <a:r>
                  <a:rPr lang="en-AU" sz="1600" dirty="0">
                    <a:effectLst/>
                    <a:latin typeface="Calibri" panose="020F0502020204030204" pitchFamily="34" charset="0"/>
                  </a:rPr>
                  <a:t>Model 1 -- </a:t>
                </a:r>
                <a:r>
                  <a:rPr lang="en-AU" sz="1600" u="sng" dirty="0">
                    <a:effectLst/>
                    <a:latin typeface="Calibri" panose="020F0502020204030204" pitchFamily="34" charset="0"/>
                  </a:rPr>
                  <a:t>predict</a:t>
                </a:r>
                <a:r>
                  <a:rPr lang="en-AU" sz="1600" dirty="0">
                    <a:effectLst/>
                    <a:latin typeface="Calibri" panose="020F0502020204030204" pitchFamily="34" charset="0"/>
                  </a:rPr>
                  <a:t> the probability of a customer being converted on </a:t>
                </a:r>
                <a:r>
                  <a:rPr lang="en-AU" sz="1600" i="1" dirty="0">
                    <a:effectLst/>
                    <a:latin typeface="Calibri" panose="020F0502020204030204" pitchFamily="34" charset="0"/>
                  </a:rPr>
                  <a:t>return </a:t>
                </a:r>
                <a:r>
                  <a:rPr lang="en-AU" sz="1600" dirty="0">
                    <a:effectLst/>
                    <a:latin typeface="Calibri" panose="020F0502020204030204" pitchFamily="34" charset="0"/>
                  </a:rPr>
                  <a:t>visit.</a:t>
                </a:r>
              </a:p>
              <a:p>
                <a:pPr marL="685800" marR="0">
                  <a:buNone/>
                </a:pPr>
                <a:r>
                  <a:rPr lang="en-AU" sz="1600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</a:rPr>
                  <a:t>What number of return visits yield the highest probability of making a conversion?</a:t>
                </a:r>
              </a:p>
              <a:p>
                <a:pPr marL="685800" marR="0">
                  <a:buNone/>
                </a:pPr>
                <a:r>
                  <a:rPr lang="en-AU" sz="1600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</a:rPr>
                  <a:t>LOGISTIC REGRESSION</a:t>
                </a:r>
              </a:p>
              <a:p>
                <a:pPr marL="342900" marR="0">
                  <a:buNone/>
                </a:pPr>
                <a:r>
                  <a:rPr lang="en-AU" sz="1600" dirty="0">
                    <a:effectLst/>
                    <a:latin typeface="Calibri" panose="020F0502020204030204" pitchFamily="34" charset="0"/>
                  </a:rPr>
                  <a:t>Model 2 -- at any given stage of a customer journey, </a:t>
                </a:r>
                <a:r>
                  <a:rPr lang="en-AU" sz="1600" u="sng" dirty="0">
                    <a:effectLst/>
                    <a:latin typeface="Calibri" panose="020F0502020204030204" pitchFamily="34" charset="0"/>
                  </a:rPr>
                  <a:t>predict</a:t>
                </a:r>
                <a:r>
                  <a:rPr lang="en-AU" sz="1600" dirty="0">
                    <a:effectLst/>
                    <a:latin typeface="Calibri" panose="020F0502020204030204" pitchFamily="34" charset="0"/>
                  </a:rPr>
                  <a:t> how many steps it will take to reach a </a:t>
                </a:r>
                <a:r>
                  <a:rPr lang="en-AU" sz="1600" i="1" dirty="0">
                    <a:effectLst/>
                    <a:latin typeface="Calibri" panose="020F0502020204030204" pitchFamily="34" charset="0"/>
                  </a:rPr>
                  <a:t>conversion</a:t>
                </a:r>
                <a:r>
                  <a:rPr lang="en-AU" sz="1600" dirty="0">
                    <a:effectLst/>
                    <a:latin typeface="Calibri" panose="020F0502020204030204" pitchFamily="34" charset="0"/>
                  </a:rPr>
                  <a:t>.</a:t>
                </a:r>
              </a:p>
              <a:p>
                <a:pPr marL="685800" marR="0">
                  <a:buNone/>
                </a:pPr>
                <a:r>
                  <a:rPr lang="en-AU" sz="1600" dirty="0">
                    <a:solidFill>
                      <a:srgbClr val="0070C0"/>
                    </a:solidFill>
                    <a:effectLst/>
                    <a:latin typeface="Calibri" panose="020F0502020204030204" pitchFamily="34" charset="0"/>
                  </a:rPr>
                  <a:t>POISSON REGRESSION</a:t>
                </a:r>
              </a:p>
              <a:p>
                <a:pPr marL="0" marR="0">
                  <a:buNone/>
                </a:pPr>
                <a:r>
                  <a:rPr lang="en-AU" sz="1600" dirty="0">
                    <a:effectLst/>
                    <a:latin typeface="Calibri" panose="020F0502020204030204" pitchFamily="34" charset="0"/>
                  </a:rPr>
                  <a:t> </a:t>
                </a:r>
              </a:p>
              <a:p>
                <a:pPr marL="0" marR="0">
                  <a:buNone/>
                </a:pPr>
                <a:r>
                  <a:rPr lang="en-AU" sz="1600" b="1" dirty="0">
                    <a:effectLst/>
                    <a:latin typeface="Calibri" panose="020F0502020204030204" pitchFamily="34" charset="0"/>
                  </a:rPr>
                  <a:t>2 -- Customer Life Cycle Stages</a:t>
                </a:r>
                <a:endParaRPr lang="en-AU" sz="1600" dirty="0">
                  <a:effectLst/>
                  <a:latin typeface="Calibri" panose="020F0502020204030204" pitchFamily="34" charset="0"/>
                </a:endParaRPr>
              </a:p>
              <a:p>
                <a:pPr marL="342900" marR="0">
                  <a:buNone/>
                </a:pPr>
                <a:r>
                  <a:rPr lang="en-AU" sz="1600" dirty="0">
                    <a:effectLst/>
                    <a:latin typeface="Calibri" panose="020F0502020204030204" pitchFamily="34" charset="0"/>
                  </a:rPr>
                  <a:t>Design a method to assign life cycle labels to customers.</a:t>
                </a:r>
              </a:p>
              <a:p>
                <a:pPr marL="342900" marR="0">
                  <a:buNone/>
                </a:pPr>
                <a:r>
                  <a:rPr lang="en-AU" sz="1600" dirty="0">
                    <a:effectLst/>
                    <a:latin typeface="Calibri" panose="020F0502020204030204" pitchFamily="34" charset="0"/>
                  </a:rPr>
                  <a:t>Verify performance of the method used.</a:t>
                </a:r>
              </a:p>
              <a:p>
                <a:pPr marL="0" marR="0">
                  <a:buNone/>
                </a:pPr>
                <a:r>
                  <a:rPr lang="en-AU" sz="1600" dirty="0">
                    <a:effectLst/>
                    <a:latin typeface="Calibri" panose="020F0502020204030204" pitchFamily="34" charset="0"/>
                  </a:rPr>
                  <a:t> </a:t>
                </a:r>
              </a:p>
              <a:p>
                <a:pPr marL="0" marR="0">
                  <a:buNone/>
                </a:pPr>
                <a:r>
                  <a:rPr lang="en-AU" sz="1600" b="1" dirty="0">
                    <a:effectLst/>
                    <a:latin typeface="Calibri" panose="020F0502020204030204" pitchFamily="34" charset="0"/>
                  </a:rPr>
                  <a:t>3 -- Business Success Attribution</a:t>
                </a:r>
                <a:endParaRPr lang="en-AU" sz="1600" dirty="0">
                  <a:effectLst/>
                  <a:latin typeface="Calibri" panose="020F0502020204030204" pitchFamily="34" charset="0"/>
                </a:endParaRPr>
              </a:p>
              <a:p>
                <a:pPr marL="342900" marR="0">
                  <a:buNone/>
                </a:pPr>
                <a:r>
                  <a:rPr lang="en-AU" sz="1600" dirty="0">
                    <a:effectLst/>
                    <a:latin typeface="Calibri" panose="020F0502020204030204" pitchFamily="34" charset="0"/>
                  </a:rPr>
                  <a:t>EXAMPLE -- email (</a:t>
                </a:r>
                <a14:m>
                  <m:oMath xmlns:m="http://schemas.openxmlformats.org/officeDocument/2006/math">
                    <m:r>
                      <a:rPr lang="en-AU" sz="1600">
                        <a:effectLst/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AU" sz="1600" dirty="0">
                    <a:effectLst/>
                    <a:latin typeface="Calibri" panose="020F0502020204030204" pitchFamily="34" charset="0"/>
                  </a:rPr>
                  <a:t>) and mobile apps (</a:t>
                </a:r>
                <a14:m>
                  <m:oMath xmlns:m="http://schemas.openxmlformats.org/officeDocument/2006/math">
                    <m:r>
                      <a:rPr lang="en-AU" sz="1600">
                        <a:effectLst/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AU" sz="1600" dirty="0">
                    <a:effectLst/>
                    <a:latin typeface="Calibri" panose="020F0502020204030204" pitchFamily="34" charset="0"/>
                  </a:rPr>
                  <a:t>) used in promotion campaign, then their contribution will be </a:t>
                </a:r>
                <a14:m>
                  <m:oMath xmlns:m="http://schemas.openxmlformats.org/officeDocument/2006/math">
                    <m:r>
                      <a:rPr lang="en-AU" sz="1600">
                        <a:effectLst/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1600">
                        <a:effectLst/>
                        <a:latin typeface="Cambria Math" panose="02040503050406030204" pitchFamily="18" charset="0"/>
                      </a:rPr>
                      <m:t>%+</m:t>
                    </m:r>
                    <m:r>
                      <a:rPr lang="en-AU" sz="1600">
                        <a:effectLst/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sz="1600">
                        <a:effectLst/>
                        <a:latin typeface="Cambria Math" panose="02040503050406030204" pitchFamily="18" charset="0"/>
                      </a:rPr>
                      <m:t>%=100%</m:t>
                    </m:r>
                  </m:oMath>
                </a14:m>
                <a:r>
                  <a:rPr lang="en-AU" sz="1600" dirty="0">
                    <a:effectLst/>
                    <a:latin typeface="Calibri" panose="020F0502020204030204" pitchFamily="34" charset="0"/>
                  </a:rPr>
                  <a:t>.</a:t>
                </a:r>
              </a:p>
              <a:p>
                <a:pPr marL="342900" marR="0">
                  <a:buNone/>
                </a:pPr>
                <a:r>
                  <a:rPr lang="en-AU" sz="1600" dirty="0">
                    <a:effectLst/>
                    <a:latin typeface="Calibri" panose="020F0502020204030204" pitchFamily="34" charset="0"/>
                  </a:rPr>
                  <a:t> </a:t>
                </a:r>
              </a:p>
              <a:p>
                <a:pPr marL="342900" marR="0">
                  <a:buNone/>
                </a:pPr>
                <a:r>
                  <a:rPr lang="en-AU" sz="1600" dirty="0">
                    <a:effectLst/>
                    <a:latin typeface="Calibri" panose="020F0502020204030204" pitchFamily="34" charset="0"/>
                  </a:rPr>
                  <a:t>Model 1 -- Conversion rate of each channel.</a:t>
                </a:r>
              </a:p>
              <a:p>
                <a:pPr marL="342900" marR="0">
                  <a:buNone/>
                </a:pPr>
                <a:r>
                  <a:rPr lang="en-AU" sz="1600" dirty="0">
                    <a:effectLst/>
                    <a:latin typeface="Calibri" panose="020F0502020204030204" pitchFamily="34" charset="0"/>
                  </a:rPr>
                  <a:t>Model 2 -- Conversion rate of journey length (could be grouped lengths, i.e. 1-2 vs 10-15).</a:t>
                </a:r>
              </a:p>
              <a:p>
                <a:pPr marL="342900" marR="0">
                  <a:buNone/>
                </a:pPr>
                <a:r>
                  <a:rPr lang="en-AU" sz="1600" dirty="0">
                    <a:effectLst/>
                    <a:latin typeface="Calibri" panose="020F0502020204030204" pitchFamily="34" charset="0"/>
                  </a:rPr>
                  <a:t>Model 3 -- Nested channels into 3 groups.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0208EBC-0EA1-D49F-7898-F3F35AEE24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474" y="797510"/>
                <a:ext cx="7413625" cy="5262979"/>
              </a:xfrm>
              <a:prstGeom prst="rect">
                <a:avLst/>
              </a:prstGeom>
              <a:blipFill>
                <a:blip r:embed="rId2"/>
                <a:stretch>
                  <a:fillRect l="-411" t="-348" b="-57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753698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F6D6AB-4DB4-6ED9-F672-1A271BD35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3842E25-EB9B-1952-9288-673362B04829}"/>
              </a:ext>
            </a:extLst>
          </p:cNvPr>
          <p:cNvSpPr txBox="1"/>
          <p:nvPr/>
        </p:nvSpPr>
        <p:spPr>
          <a:xfrm>
            <a:off x="-1" y="0"/>
            <a:ext cx="81957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/>
              <a:t>Scope – Work Breakdown Structure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EAC473-9839-E655-4C07-E70454443FF4}"/>
              </a:ext>
            </a:extLst>
          </p:cNvPr>
          <p:cNvSpPr txBox="1"/>
          <p:nvPr/>
        </p:nvSpPr>
        <p:spPr>
          <a:xfrm>
            <a:off x="1082674" y="797510"/>
            <a:ext cx="7400925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AU" sz="1600" b="1" dirty="0">
                <a:effectLst/>
                <a:latin typeface="Calibri" panose="020F0502020204030204" pitchFamily="34" charset="0"/>
              </a:rPr>
              <a:t>1 -- Predictive Modelling</a:t>
            </a:r>
            <a:endParaRPr lang="en-AU" sz="1600" dirty="0">
              <a:effectLst/>
              <a:latin typeface="Calibri" panose="020F0502020204030204" pitchFamily="34" charset="0"/>
            </a:endParaRPr>
          </a:p>
          <a:p>
            <a:pPr marL="342900" marR="0">
              <a:buNone/>
            </a:pPr>
            <a:r>
              <a:rPr lang="en-AU" sz="1600" dirty="0">
                <a:effectLst/>
                <a:latin typeface="Calibri" panose="020F0502020204030204" pitchFamily="34" charset="0"/>
              </a:rPr>
              <a:t>Model 1 &amp; 2</a:t>
            </a:r>
            <a:endParaRPr lang="en-AU" sz="1600" dirty="0">
              <a:latin typeface="Calibri" panose="020F0502020204030204" pitchFamily="34" charset="0"/>
            </a:endParaRPr>
          </a:p>
          <a:p>
            <a:pPr marL="342900" marR="0">
              <a:buNone/>
            </a:pPr>
            <a:r>
              <a:rPr lang="en-AU" sz="1600" dirty="0">
                <a:effectLst/>
                <a:latin typeface="Calibri" panose="020F0502020204030204" pitchFamily="34" charset="0"/>
              </a:rPr>
              <a:t>	ASSUMPTIONS</a:t>
            </a:r>
          </a:p>
          <a:p>
            <a:pPr marL="342900" marR="0">
              <a:buNone/>
            </a:pPr>
            <a:r>
              <a:rPr lang="en-AU" sz="1600" dirty="0">
                <a:latin typeface="Calibri" panose="020F0502020204030204" pitchFamily="34" charset="0"/>
              </a:rPr>
              <a:t>	</a:t>
            </a:r>
            <a:r>
              <a:rPr lang="en-AU" sz="1600" dirty="0">
                <a:effectLst/>
                <a:latin typeface="Calibri" panose="020F0502020204030204" pitchFamily="34" charset="0"/>
              </a:rPr>
              <a:t>DATA CLEANING – (1) new dataset without non-returning customer data. (2)</a:t>
            </a:r>
          </a:p>
          <a:p>
            <a:pPr marL="342900" marR="0">
              <a:buNone/>
            </a:pPr>
            <a:r>
              <a:rPr lang="en-AU" sz="1600" dirty="0">
                <a:latin typeface="Calibri" panose="020F0502020204030204" pitchFamily="34" charset="0"/>
              </a:rPr>
              <a:t>	FEATURE ENGINEERING – extending dataset columns for deeper analysis 	between groups.</a:t>
            </a:r>
          </a:p>
          <a:p>
            <a:pPr marL="342900" marR="0">
              <a:buNone/>
            </a:pPr>
            <a:r>
              <a:rPr lang="en-AU" sz="1600" dirty="0">
                <a:latin typeface="Calibri" panose="020F0502020204030204" pitchFamily="34" charset="0"/>
              </a:rPr>
              <a:t>	LITERATURE REVIEW – for model decisions.</a:t>
            </a:r>
          </a:p>
          <a:p>
            <a:pPr marL="342900" marR="0">
              <a:buNone/>
            </a:pPr>
            <a:r>
              <a:rPr lang="en-AU" sz="1600" dirty="0">
                <a:latin typeface="Calibri" panose="020F0502020204030204" pitchFamily="34" charset="0"/>
              </a:rPr>
              <a:t>	MODEL FITTING</a:t>
            </a:r>
          </a:p>
          <a:p>
            <a:pPr marL="342900" marR="0">
              <a:buNone/>
            </a:pPr>
            <a:r>
              <a:rPr lang="en-AU" sz="1600" dirty="0">
                <a:latin typeface="Calibri" panose="020F0502020204030204" pitchFamily="34" charset="0"/>
              </a:rPr>
              <a:t>	MODEL TESTING</a:t>
            </a:r>
          </a:p>
          <a:p>
            <a:pPr marL="342900" marR="0">
              <a:buNone/>
            </a:pPr>
            <a:r>
              <a:rPr lang="en-AU" sz="1600" dirty="0">
                <a:latin typeface="Calibri" panose="020F0502020204030204" pitchFamily="34" charset="0"/>
              </a:rPr>
              <a:t>	IMPROVE AND LOOSEN CONSTRAINTS</a:t>
            </a:r>
            <a:r>
              <a:rPr lang="en-AU" sz="1600" dirty="0">
                <a:effectLst/>
                <a:latin typeface="Calibri" panose="020F0502020204030204" pitchFamily="34" charset="0"/>
              </a:rPr>
              <a:t>	 </a:t>
            </a:r>
          </a:p>
          <a:p>
            <a:pPr marL="0" marR="0">
              <a:buNone/>
            </a:pPr>
            <a:r>
              <a:rPr lang="en-AU" sz="1600" b="1" dirty="0">
                <a:effectLst/>
                <a:latin typeface="Calibri" panose="020F0502020204030204" pitchFamily="34" charset="0"/>
              </a:rPr>
              <a:t>2 -- Customer Life Cycle Stages</a:t>
            </a:r>
            <a:endParaRPr lang="en-AU" sz="1600" dirty="0">
              <a:effectLst/>
              <a:latin typeface="Calibri" panose="020F0502020204030204" pitchFamily="34" charset="0"/>
            </a:endParaRPr>
          </a:p>
          <a:p>
            <a:pPr marL="342900" marR="0">
              <a:buNone/>
            </a:pPr>
            <a:r>
              <a:rPr lang="en-AU" sz="1600" dirty="0">
                <a:effectLst/>
                <a:latin typeface="Calibri" panose="020F0502020204030204" pitchFamily="34" charset="0"/>
              </a:rPr>
              <a:t>Design a method to assign life cycle labels to customers.</a:t>
            </a:r>
          </a:p>
          <a:p>
            <a:pPr marL="342900" marR="0">
              <a:buNone/>
            </a:pPr>
            <a:r>
              <a:rPr lang="en-AU" sz="1600" dirty="0">
                <a:latin typeface="Calibri" panose="020F0502020204030204" pitchFamily="34" charset="0"/>
              </a:rPr>
              <a:t>	ASSUMPTIONS – breaking down life cycle labels depending on data.</a:t>
            </a:r>
            <a:endParaRPr lang="en-AU" sz="1600" dirty="0">
              <a:effectLst/>
              <a:latin typeface="Calibri" panose="020F0502020204030204" pitchFamily="34" charset="0"/>
            </a:endParaRPr>
          </a:p>
          <a:p>
            <a:pPr marL="342900" marR="0">
              <a:buNone/>
            </a:pPr>
            <a:r>
              <a:rPr lang="en-AU" sz="1600" dirty="0">
                <a:effectLst/>
                <a:latin typeface="Calibri" panose="020F0502020204030204" pitchFamily="34" charset="0"/>
              </a:rPr>
              <a:t>Verify performance of the method used.</a:t>
            </a:r>
          </a:p>
          <a:p>
            <a:pPr marL="342900" marR="0">
              <a:buNone/>
            </a:pPr>
            <a:r>
              <a:rPr lang="en-AU" sz="1600" dirty="0">
                <a:latin typeface="Calibri" panose="020F0502020204030204" pitchFamily="34" charset="0"/>
              </a:rPr>
              <a:t>	PREDICTIVE MODEL INTEGRATION</a:t>
            </a:r>
            <a:endParaRPr lang="en-AU" sz="1600" dirty="0">
              <a:effectLst/>
              <a:latin typeface="Calibri" panose="020F0502020204030204" pitchFamily="34" charset="0"/>
            </a:endParaRPr>
          </a:p>
          <a:p>
            <a:pPr marL="0" marR="0">
              <a:buNone/>
            </a:pPr>
            <a:r>
              <a:rPr lang="en-AU" sz="1600" dirty="0">
                <a:effectLst/>
                <a:latin typeface="Calibri" panose="020F0502020204030204" pitchFamily="34" charset="0"/>
              </a:rPr>
              <a:t> </a:t>
            </a:r>
          </a:p>
          <a:p>
            <a:pPr marL="0" marR="0">
              <a:buNone/>
            </a:pPr>
            <a:r>
              <a:rPr lang="en-AU" sz="1600" b="1" dirty="0">
                <a:effectLst/>
                <a:latin typeface="Calibri" panose="020F0502020204030204" pitchFamily="34" charset="0"/>
              </a:rPr>
              <a:t>3 -- Business Success Attribution</a:t>
            </a:r>
            <a:r>
              <a:rPr lang="en-AU" sz="1600" dirty="0">
                <a:effectLst/>
                <a:latin typeface="Calibri" panose="020F0502020204030204" pitchFamily="34" charset="0"/>
              </a:rPr>
              <a:t> </a:t>
            </a:r>
          </a:p>
          <a:p>
            <a:pPr marL="342900" marR="0">
              <a:buNone/>
            </a:pPr>
            <a:r>
              <a:rPr lang="en-AU" sz="1600" dirty="0">
                <a:effectLst/>
                <a:latin typeface="Calibri" panose="020F0502020204030204" pitchFamily="34" charset="0"/>
              </a:rPr>
              <a:t>Model </a:t>
            </a:r>
            <a:r>
              <a:rPr lang="en-AU" sz="1600" dirty="0">
                <a:latin typeface="Calibri" panose="020F0502020204030204" pitchFamily="34" charset="0"/>
              </a:rPr>
              <a:t>1, 2 &amp; 3</a:t>
            </a:r>
          </a:p>
          <a:p>
            <a:pPr marL="342900" marR="0">
              <a:buNone/>
            </a:pPr>
            <a:r>
              <a:rPr lang="en-AU" sz="1600" dirty="0">
                <a:effectLst/>
                <a:latin typeface="Calibri" panose="020F0502020204030204" pitchFamily="34" charset="0"/>
              </a:rPr>
              <a:t>	LITERATURE REVIEW – attribution models.</a:t>
            </a:r>
          </a:p>
          <a:p>
            <a:pPr marL="342900" marR="0">
              <a:buNone/>
            </a:pPr>
            <a:r>
              <a:rPr lang="en-AU" sz="1600" dirty="0">
                <a:effectLst/>
                <a:latin typeface="Calibri" panose="020F0502020204030204" pitchFamily="34" charset="0"/>
              </a:rPr>
              <a:t>	MODEL ITERATION COMPARISON – (2) Journey touch-point length, and (3) 	nested channels</a:t>
            </a:r>
          </a:p>
        </p:txBody>
      </p:sp>
    </p:spTree>
    <p:extLst>
      <p:ext uri="{BB962C8B-B14F-4D97-AF65-F5344CB8AC3E}">
        <p14:creationId xmlns:p14="http://schemas.microsoft.com/office/powerpoint/2010/main" val="24849216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D23730-8EC0-F674-53B1-E4500932B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23ED403-5216-6B5A-FB09-AF48EF0729DB}"/>
              </a:ext>
            </a:extLst>
          </p:cNvPr>
          <p:cNvSpPr txBox="1"/>
          <p:nvPr/>
        </p:nvSpPr>
        <p:spPr>
          <a:xfrm>
            <a:off x="-1" y="0"/>
            <a:ext cx="83650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/>
              <a:t>Organisational Breakdown Structure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5A8800-1BA7-FC89-7AA0-F66537056FF5}"/>
              </a:ext>
            </a:extLst>
          </p:cNvPr>
          <p:cNvSpPr txBox="1"/>
          <p:nvPr/>
        </p:nvSpPr>
        <p:spPr>
          <a:xfrm>
            <a:off x="1079500" y="965200"/>
            <a:ext cx="7285566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Task 1 </a:t>
            </a:r>
            <a:r>
              <a:rPr lang="en-AU" dirty="0"/>
              <a:t>– Retief, Colby, Seb all work together to complete satisfactory model. FINISH THIS BEFORE PROCEEDING.</a:t>
            </a:r>
          </a:p>
          <a:p>
            <a:endParaRPr lang="en-AU" dirty="0"/>
          </a:p>
          <a:p>
            <a:r>
              <a:rPr lang="en-AU" dirty="0"/>
              <a:t>Initial planning stage would finish with the GOAL of satisfactory models for Task 1, then breakdown following tasks afterward.</a:t>
            </a:r>
          </a:p>
          <a:p>
            <a:endParaRPr lang="en-AU" b="1" dirty="0"/>
          </a:p>
          <a:p>
            <a:r>
              <a:rPr lang="en-AU" b="1" dirty="0"/>
              <a:t>Task 2</a:t>
            </a:r>
            <a:r>
              <a:rPr lang="en-AU" dirty="0"/>
              <a:t> – One member dedicated to task?</a:t>
            </a:r>
          </a:p>
          <a:p>
            <a:endParaRPr lang="en-AU" b="1" dirty="0"/>
          </a:p>
          <a:p>
            <a:r>
              <a:rPr lang="en-AU" b="1" dirty="0"/>
              <a:t>Task 3 </a:t>
            </a:r>
            <a:r>
              <a:rPr lang="en-AU" dirty="0"/>
              <a:t>– Other two members dedicated to task?</a:t>
            </a:r>
          </a:p>
          <a:p>
            <a:endParaRPr lang="en-AU" b="1" dirty="0"/>
          </a:p>
          <a:p>
            <a:r>
              <a:rPr lang="en-AU" b="1" dirty="0"/>
              <a:t>Support</a:t>
            </a:r>
            <a:endParaRPr lang="en-AU" dirty="0"/>
          </a:p>
          <a:p>
            <a:r>
              <a:rPr lang="en-AU" dirty="0"/>
              <a:t>Shen Liu – </a:t>
            </a:r>
            <a:r>
              <a:rPr lang="en-AU" dirty="0" err="1"/>
              <a:t>Logickube</a:t>
            </a:r>
            <a:r>
              <a:rPr lang="en-AU" dirty="0"/>
              <a:t> CEO who is the representative to reach out to for the company.</a:t>
            </a:r>
          </a:p>
          <a:p>
            <a:r>
              <a:rPr lang="en-AU" dirty="0"/>
              <a:t>James McGree – unit coordinator, helpful support for the mathematical side of project.</a:t>
            </a:r>
          </a:p>
          <a:p>
            <a:r>
              <a:rPr lang="en-AU" dirty="0"/>
              <a:t>Robert Hoffman – Project management guidance.</a:t>
            </a:r>
          </a:p>
          <a:p>
            <a:r>
              <a:rPr lang="en-AU" dirty="0"/>
              <a:t>Alex Liu – </a:t>
            </a:r>
            <a:r>
              <a:rPr lang="en-AU"/>
              <a:t>knowledgeable guy.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047832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7474E8-938E-F3D0-C56D-485C0E12E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353E2E7-2C7C-0083-E21A-6C8CEF03DB5C}"/>
              </a:ext>
            </a:extLst>
          </p:cNvPr>
          <p:cNvSpPr txBox="1"/>
          <p:nvPr/>
        </p:nvSpPr>
        <p:spPr>
          <a:xfrm>
            <a:off x="0" y="0"/>
            <a:ext cx="7620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/>
              <a:t>Responsibility Allocation Matrix</a:t>
            </a:r>
          </a:p>
        </p:txBody>
      </p:sp>
    </p:spTree>
    <p:extLst>
      <p:ext uri="{BB962C8B-B14F-4D97-AF65-F5344CB8AC3E}">
        <p14:creationId xmlns:p14="http://schemas.microsoft.com/office/powerpoint/2010/main" val="28693024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11CA7C-5856-2F21-146E-09A2A85D8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353DFE2-D7DB-FD5D-CCFC-44FFC1F0ED2E}"/>
              </a:ext>
            </a:extLst>
          </p:cNvPr>
          <p:cNvSpPr txBox="1"/>
          <p:nvPr/>
        </p:nvSpPr>
        <p:spPr>
          <a:xfrm>
            <a:off x="-1" y="0"/>
            <a:ext cx="74845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/>
              <a:t>Key Milestone and Schedule</a:t>
            </a:r>
          </a:p>
        </p:txBody>
      </p:sp>
    </p:spTree>
    <p:extLst>
      <p:ext uri="{BB962C8B-B14F-4D97-AF65-F5344CB8AC3E}">
        <p14:creationId xmlns:p14="http://schemas.microsoft.com/office/powerpoint/2010/main" val="24512424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5E9D8E-DAA2-F5F1-6F95-C1790ADD0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97E247B-03E1-994C-D859-BB7631A98AFB}"/>
              </a:ext>
            </a:extLst>
          </p:cNvPr>
          <p:cNvSpPr txBox="1"/>
          <p:nvPr/>
        </p:nvSpPr>
        <p:spPr>
          <a:xfrm>
            <a:off x="0" y="0"/>
            <a:ext cx="60167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/>
              <a:t>Budget</a:t>
            </a:r>
          </a:p>
        </p:txBody>
      </p:sp>
    </p:spTree>
    <p:extLst>
      <p:ext uri="{BB962C8B-B14F-4D97-AF65-F5344CB8AC3E}">
        <p14:creationId xmlns:p14="http://schemas.microsoft.com/office/powerpoint/2010/main" val="13211617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8447DE-840B-28EB-8456-CBCFFB18F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3D0AB75-28F0-8F6D-407E-7018BADAB020}"/>
              </a:ext>
            </a:extLst>
          </p:cNvPr>
          <p:cNvSpPr txBox="1"/>
          <p:nvPr/>
        </p:nvSpPr>
        <p:spPr>
          <a:xfrm>
            <a:off x="-1" y="0"/>
            <a:ext cx="72813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/>
              <a:t>Risks and Issues Management</a:t>
            </a:r>
          </a:p>
        </p:txBody>
      </p:sp>
    </p:spTree>
    <p:extLst>
      <p:ext uri="{BB962C8B-B14F-4D97-AF65-F5344CB8AC3E}">
        <p14:creationId xmlns:p14="http://schemas.microsoft.com/office/powerpoint/2010/main" val="26015597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7FC1E8-CC15-2EFA-78A1-148E53F37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57BD2A8-7A1D-D995-E719-FD65ADDB74B3}"/>
              </a:ext>
            </a:extLst>
          </p:cNvPr>
          <p:cNvSpPr txBox="1"/>
          <p:nvPr/>
        </p:nvSpPr>
        <p:spPr>
          <a:xfrm>
            <a:off x="0" y="0"/>
            <a:ext cx="60167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/>
              <a:t>Stakeholder Management</a:t>
            </a:r>
          </a:p>
        </p:txBody>
      </p:sp>
    </p:spTree>
    <p:extLst>
      <p:ext uri="{BB962C8B-B14F-4D97-AF65-F5344CB8AC3E}">
        <p14:creationId xmlns:p14="http://schemas.microsoft.com/office/powerpoint/2010/main" val="38309581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EB4898-0275-F3BF-DAAE-556BC95CC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DFF860E-4E35-7C6C-292C-762F191DA208}"/>
              </a:ext>
            </a:extLst>
          </p:cNvPr>
          <p:cNvSpPr txBox="1"/>
          <p:nvPr/>
        </p:nvSpPr>
        <p:spPr>
          <a:xfrm>
            <a:off x="0" y="0"/>
            <a:ext cx="60167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/>
              <a:t>Quality Management</a:t>
            </a:r>
          </a:p>
        </p:txBody>
      </p:sp>
    </p:spTree>
    <p:extLst>
      <p:ext uri="{BB962C8B-B14F-4D97-AF65-F5344CB8AC3E}">
        <p14:creationId xmlns:p14="http://schemas.microsoft.com/office/powerpoint/2010/main" val="38184554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442F5F-6502-28AA-83B8-7E4939CA9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D89CAD8-18A1-A395-9CB3-BF4531D036F5}"/>
              </a:ext>
            </a:extLst>
          </p:cNvPr>
          <p:cNvSpPr txBox="1"/>
          <p:nvPr/>
        </p:nvSpPr>
        <p:spPr>
          <a:xfrm>
            <a:off x="0" y="0"/>
            <a:ext cx="60167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/>
              <a:t>Implementation Plan</a:t>
            </a:r>
          </a:p>
        </p:txBody>
      </p:sp>
    </p:spTree>
    <p:extLst>
      <p:ext uri="{BB962C8B-B14F-4D97-AF65-F5344CB8AC3E}">
        <p14:creationId xmlns:p14="http://schemas.microsoft.com/office/powerpoint/2010/main" val="41915658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09B557-0F0A-FCFA-6882-FAD359FBF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5552360-48BD-CA19-063E-4832F1F1596C}"/>
              </a:ext>
            </a:extLst>
          </p:cNvPr>
          <p:cNvSpPr txBox="1"/>
          <p:nvPr/>
        </p:nvSpPr>
        <p:spPr>
          <a:xfrm>
            <a:off x="0" y="0"/>
            <a:ext cx="60167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/>
              <a:t>Lessons Learned</a:t>
            </a:r>
          </a:p>
        </p:txBody>
      </p:sp>
    </p:spTree>
    <p:extLst>
      <p:ext uri="{BB962C8B-B14F-4D97-AF65-F5344CB8AC3E}">
        <p14:creationId xmlns:p14="http://schemas.microsoft.com/office/powerpoint/2010/main" val="35155130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807</Words>
  <Application>Microsoft Office PowerPoint</Application>
  <PresentationFormat>Widescreen</PresentationFormat>
  <Paragraphs>90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</vt:lpstr>
      <vt:lpstr>Aptos Display</vt:lpstr>
      <vt:lpstr>Arial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Retief Padget</dc:creator>
  <cp:lastModifiedBy>Retief Padget</cp:lastModifiedBy>
  <cp:revision>1</cp:revision>
  <dcterms:created xsi:type="dcterms:W3CDTF">2026-08-04T01:07:54Z</dcterms:created>
  <dcterms:modified xsi:type="dcterms:W3CDTF">2026-08-04T02:46:05Z</dcterms:modified>
</cp:coreProperties>
</file>